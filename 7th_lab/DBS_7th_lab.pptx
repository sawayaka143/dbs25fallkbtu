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F5F889-EA81-2507-9506-2D2E4F038443}" v="510" dt="2025-11-11T01:23:34.25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11/10/2025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a:t>Yeskenov</a:t>
            </a:r>
            <a:r>
              <a:rPr lang="en-US" dirty="0"/>
              <a:t> Aldiyar</a:t>
            </a:r>
          </a:p>
        </p:txBody>
      </p:sp>
      <p:sp>
        <p:nvSpPr>
          <p:cNvPr id="3" name="Subtitle 2"/>
          <p:cNvSpPr>
            <a:spLocks noGrp="1"/>
          </p:cNvSpPr>
          <p:nvPr>
            <p:ph type="subTitle" idx="1"/>
          </p:nvPr>
        </p:nvSpPr>
        <p:spPr/>
        <p:txBody>
          <a:bodyPr vert="horz" lIns="91440" tIns="45720" rIns="91440" bIns="45720" rtlCol="0" anchor="t">
            <a:normAutofit/>
          </a:bodyPr>
          <a:lstStyle/>
          <a:p>
            <a:r>
              <a:rPr lang="en-US" dirty="0"/>
              <a:t>DBS 7th lab</a:t>
            </a: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A4417-61F1-CA73-E5FB-597E0C9E4713}"/>
              </a:ext>
            </a:extLst>
          </p:cNvPr>
          <p:cNvSpPr>
            <a:spLocks noGrp="1"/>
          </p:cNvSpPr>
          <p:nvPr>
            <p:ph type="title"/>
          </p:nvPr>
        </p:nvSpPr>
        <p:spPr>
          <a:xfrm>
            <a:off x="884382" y="134215"/>
            <a:ext cx="10515600" cy="258763"/>
          </a:xfrm>
        </p:spPr>
        <p:txBody>
          <a:bodyPr>
            <a:normAutofit fontScale="90000"/>
          </a:bodyPr>
          <a:lstStyle/>
          <a:p>
            <a:r>
              <a:rPr lang="en-US" sz="2000" dirty="0">
                <a:latin typeface="Aptos Display"/>
                <a:cs typeface="Times New Roman"/>
              </a:rPr>
              <a:t>1. Create an index on the </a:t>
            </a:r>
            <a:r>
              <a:rPr lang="en-US" sz="2000" err="1">
                <a:latin typeface="Aptos Display"/>
                <a:cs typeface="Times New Roman"/>
              </a:rPr>
              <a:t>actual_departure</a:t>
            </a:r>
            <a:r>
              <a:rPr lang="en-US" sz="2000" dirty="0">
                <a:latin typeface="Aptos Display"/>
                <a:cs typeface="Times New Roman"/>
              </a:rPr>
              <a:t> column in the flights table.</a:t>
            </a:r>
            <a:endParaRPr lang="en-US" sz="2000"/>
          </a:p>
        </p:txBody>
      </p:sp>
      <p:pic>
        <p:nvPicPr>
          <p:cNvPr id="7" name="Content Placeholder 6" descr="A screenshot of a computer&#10;&#10;AI-generated content may be incorrect.">
            <a:extLst>
              <a:ext uri="{FF2B5EF4-FFF2-40B4-BE49-F238E27FC236}">
                <a16:creationId xmlns:a16="http://schemas.microsoft.com/office/drawing/2014/main" id="{3094012C-90D0-3FE5-B23F-CB4A61CB0344}"/>
              </a:ext>
            </a:extLst>
          </p:cNvPr>
          <p:cNvPicPr>
            <a:picLocks noGrp="1" noChangeAspect="1"/>
          </p:cNvPicPr>
          <p:nvPr>
            <p:ph idx="1"/>
          </p:nvPr>
        </p:nvPicPr>
        <p:blipFill>
          <a:blip r:embed="rId2"/>
          <a:stretch>
            <a:fillRect/>
          </a:stretch>
        </p:blipFill>
        <p:spPr>
          <a:xfrm>
            <a:off x="607162" y="546388"/>
            <a:ext cx="10977676" cy="6175520"/>
          </a:xfrm>
          <a:prstGeom prst="rect">
            <a:avLst/>
          </a:prstGeom>
        </p:spPr>
      </p:pic>
    </p:spTree>
    <p:extLst>
      <p:ext uri="{BB962C8B-B14F-4D97-AF65-F5344CB8AC3E}">
        <p14:creationId xmlns:p14="http://schemas.microsoft.com/office/powerpoint/2010/main" val="36595252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C773D-100E-F4D4-2490-45457B33CC80}"/>
              </a:ext>
            </a:extLst>
          </p:cNvPr>
          <p:cNvSpPr>
            <a:spLocks noGrp="1"/>
          </p:cNvSpPr>
          <p:nvPr>
            <p:ph type="title"/>
          </p:nvPr>
        </p:nvSpPr>
        <p:spPr>
          <a:xfrm>
            <a:off x="838200" y="97270"/>
            <a:ext cx="10515600" cy="231054"/>
          </a:xfrm>
        </p:spPr>
        <p:txBody>
          <a:bodyPr>
            <a:normAutofit fontScale="90000"/>
          </a:bodyPr>
          <a:lstStyle/>
          <a:p>
            <a:r>
              <a:rPr lang="en-US" sz="1400" dirty="0">
                <a:latin typeface="Aptos Display"/>
                <a:cs typeface="Times New Roman"/>
              </a:rPr>
              <a:t>2. Create a unique index to ensure </a:t>
            </a:r>
            <a:r>
              <a:rPr lang="en-US" sz="1400" err="1">
                <a:latin typeface="Aptos Display"/>
                <a:cs typeface="Times New Roman"/>
              </a:rPr>
              <a:t>flight_no</a:t>
            </a:r>
            <a:r>
              <a:rPr lang="en-US" sz="1400" dirty="0">
                <a:latin typeface="Aptos Display"/>
                <a:cs typeface="Times New Roman"/>
              </a:rPr>
              <a:t> and </a:t>
            </a:r>
            <a:r>
              <a:rPr lang="en-US" sz="1400" err="1">
                <a:latin typeface="Aptos Display"/>
                <a:cs typeface="Times New Roman"/>
              </a:rPr>
              <a:t>scheduled_departure</a:t>
            </a:r>
            <a:r>
              <a:rPr lang="en-US" sz="1400" dirty="0">
                <a:latin typeface="Aptos Display"/>
                <a:cs typeface="Times New Roman"/>
              </a:rPr>
              <a:t> combinations are unique.</a:t>
            </a:r>
            <a:endParaRPr lang="en-US" sz="1400"/>
          </a:p>
        </p:txBody>
      </p:sp>
      <p:pic>
        <p:nvPicPr>
          <p:cNvPr id="4" name="Content Placeholder 3" descr="A screenshot of a computer&#10;&#10;AI-generated content may be incorrect.">
            <a:extLst>
              <a:ext uri="{FF2B5EF4-FFF2-40B4-BE49-F238E27FC236}">
                <a16:creationId xmlns:a16="http://schemas.microsoft.com/office/drawing/2014/main" id="{6ECE71ED-D55A-4052-9D53-4B5B1CB68217}"/>
              </a:ext>
            </a:extLst>
          </p:cNvPr>
          <p:cNvPicPr>
            <a:picLocks noGrp="1" noChangeAspect="1"/>
          </p:cNvPicPr>
          <p:nvPr>
            <p:ph idx="1"/>
          </p:nvPr>
        </p:nvPicPr>
        <p:blipFill>
          <a:blip r:embed="rId2"/>
          <a:stretch>
            <a:fillRect/>
          </a:stretch>
        </p:blipFill>
        <p:spPr>
          <a:xfrm>
            <a:off x="383545" y="329091"/>
            <a:ext cx="11421020" cy="6434137"/>
          </a:xfrm>
          <a:prstGeom prst="rect">
            <a:avLst/>
          </a:prstGeom>
        </p:spPr>
      </p:pic>
    </p:spTree>
    <p:extLst>
      <p:ext uri="{BB962C8B-B14F-4D97-AF65-F5344CB8AC3E}">
        <p14:creationId xmlns:p14="http://schemas.microsoft.com/office/powerpoint/2010/main" val="1353122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646E6-94D4-FC60-A60D-75AE64A7EB66}"/>
              </a:ext>
            </a:extLst>
          </p:cNvPr>
          <p:cNvSpPr>
            <a:spLocks noGrp="1"/>
          </p:cNvSpPr>
          <p:nvPr>
            <p:ph type="title"/>
          </p:nvPr>
        </p:nvSpPr>
        <p:spPr>
          <a:xfrm>
            <a:off x="838200" y="288"/>
            <a:ext cx="10515600" cy="309563"/>
          </a:xfrm>
        </p:spPr>
        <p:txBody>
          <a:bodyPr vert="horz" lIns="91440" tIns="45720" rIns="91440" bIns="45720" rtlCol="0" anchor="ctr">
            <a:noAutofit/>
          </a:bodyPr>
          <a:lstStyle/>
          <a:p>
            <a:r>
              <a:rPr lang="en-US" sz="1200" dirty="0">
                <a:latin typeface="Aptos Display"/>
                <a:cs typeface="Times New Roman"/>
              </a:rPr>
              <a:t>3. Create a composite index on the </a:t>
            </a:r>
            <a:r>
              <a:rPr lang="en-US" sz="1200" err="1">
                <a:latin typeface="Aptos Display"/>
                <a:cs typeface="Times New Roman"/>
              </a:rPr>
              <a:t>departure_airport_id</a:t>
            </a:r>
            <a:r>
              <a:rPr lang="en-US" sz="1200" dirty="0">
                <a:latin typeface="Aptos Display"/>
                <a:cs typeface="Times New Roman"/>
              </a:rPr>
              <a:t> and </a:t>
            </a:r>
            <a:r>
              <a:rPr lang="en-US" sz="1200" err="1">
                <a:latin typeface="Aptos Display"/>
                <a:cs typeface="Times New Roman"/>
              </a:rPr>
              <a:t>arrival_airport_id</a:t>
            </a:r>
            <a:r>
              <a:rPr lang="en-US" sz="1200" dirty="0">
                <a:latin typeface="Aptos Display"/>
                <a:cs typeface="Times New Roman"/>
              </a:rPr>
              <a:t> columns.</a:t>
            </a:r>
            <a:endParaRPr lang="en-US" sz="1200"/>
          </a:p>
        </p:txBody>
      </p:sp>
      <p:pic>
        <p:nvPicPr>
          <p:cNvPr id="4" name="Content Placeholder 3" descr="A screenshot of a computer&#10;&#10;AI-generated content may be incorrect.">
            <a:extLst>
              <a:ext uri="{FF2B5EF4-FFF2-40B4-BE49-F238E27FC236}">
                <a16:creationId xmlns:a16="http://schemas.microsoft.com/office/drawing/2014/main" id="{7FFC7AAA-FB71-7FCD-2E59-6296F7DF0EAD}"/>
              </a:ext>
            </a:extLst>
          </p:cNvPr>
          <p:cNvPicPr>
            <a:picLocks noGrp="1" noChangeAspect="1"/>
          </p:cNvPicPr>
          <p:nvPr>
            <p:ph idx="1"/>
          </p:nvPr>
        </p:nvPicPr>
        <p:blipFill>
          <a:blip r:embed="rId2"/>
          <a:stretch>
            <a:fillRect/>
          </a:stretch>
        </p:blipFill>
        <p:spPr>
          <a:xfrm>
            <a:off x="547126" y="292388"/>
            <a:ext cx="11093130" cy="6272501"/>
          </a:xfrm>
          <a:prstGeom prst="rect">
            <a:avLst/>
          </a:prstGeom>
        </p:spPr>
      </p:pic>
    </p:spTree>
    <p:extLst>
      <p:ext uri="{BB962C8B-B14F-4D97-AF65-F5344CB8AC3E}">
        <p14:creationId xmlns:p14="http://schemas.microsoft.com/office/powerpoint/2010/main" val="9469646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DF419-F62A-F2B1-C94C-3EB4A3F4FB6E}"/>
              </a:ext>
            </a:extLst>
          </p:cNvPr>
          <p:cNvSpPr>
            <a:spLocks noGrp="1"/>
          </p:cNvSpPr>
          <p:nvPr>
            <p:ph type="title"/>
          </p:nvPr>
        </p:nvSpPr>
        <p:spPr>
          <a:xfrm>
            <a:off x="838200" y="288"/>
            <a:ext cx="10515600" cy="304945"/>
          </a:xfrm>
        </p:spPr>
        <p:txBody>
          <a:bodyPr>
            <a:normAutofit/>
          </a:bodyPr>
          <a:lstStyle/>
          <a:p>
            <a:r>
              <a:rPr lang="en-US" sz="1400" dirty="0">
                <a:latin typeface="Aptos Display"/>
                <a:cs typeface="Times New Roman"/>
              </a:rPr>
              <a:t>4. Evaluate the difference in query performance with and without indexes. Measure performance differences.</a:t>
            </a:r>
            <a:endParaRPr lang="en-US" sz="1400"/>
          </a:p>
        </p:txBody>
      </p:sp>
      <p:pic>
        <p:nvPicPr>
          <p:cNvPr id="4" name="Content Placeholder 3" descr="A screenshot of a computer&#10;&#10;AI-generated content may be incorrect.">
            <a:extLst>
              <a:ext uri="{FF2B5EF4-FFF2-40B4-BE49-F238E27FC236}">
                <a16:creationId xmlns:a16="http://schemas.microsoft.com/office/drawing/2014/main" id="{658D48F0-2D44-D7A8-15B5-9CDD6AED55F0}"/>
              </a:ext>
            </a:extLst>
          </p:cNvPr>
          <p:cNvPicPr>
            <a:picLocks noGrp="1" noChangeAspect="1"/>
          </p:cNvPicPr>
          <p:nvPr>
            <p:ph idx="1"/>
          </p:nvPr>
        </p:nvPicPr>
        <p:blipFill>
          <a:blip r:embed="rId2"/>
          <a:stretch>
            <a:fillRect/>
          </a:stretch>
        </p:blipFill>
        <p:spPr>
          <a:xfrm>
            <a:off x="482471" y="264680"/>
            <a:ext cx="11222438" cy="6327918"/>
          </a:xfrm>
          <a:prstGeom prst="rect">
            <a:avLst/>
          </a:prstGeom>
        </p:spPr>
      </p:pic>
    </p:spTree>
    <p:extLst>
      <p:ext uri="{BB962C8B-B14F-4D97-AF65-F5344CB8AC3E}">
        <p14:creationId xmlns:p14="http://schemas.microsoft.com/office/powerpoint/2010/main" val="22645555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2C4D-F10F-2375-2B23-9E6146FE72D2}"/>
              </a:ext>
            </a:extLst>
          </p:cNvPr>
          <p:cNvSpPr>
            <a:spLocks noGrp="1"/>
          </p:cNvSpPr>
          <p:nvPr>
            <p:ph type="title"/>
          </p:nvPr>
        </p:nvSpPr>
        <p:spPr>
          <a:xfrm>
            <a:off x="838200" y="288"/>
            <a:ext cx="10515600" cy="171017"/>
          </a:xfrm>
        </p:spPr>
        <p:txBody>
          <a:bodyPr vert="horz" lIns="91440" tIns="45720" rIns="91440" bIns="45720" rtlCol="0" anchor="ctr">
            <a:noAutofit/>
          </a:bodyPr>
          <a:lstStyle/>
          <a:p>
            <a:r>
              <a:rPr lang="en-US" sz="1200" dirty="0">
                <a:latin typeface="Aptos Display"/>
                <a:cs typeface="Times New Roman"/>
              </a:rPr>
              <a:t>5. Use EXPLAIN ANALYZE to check index usage in a query filtering by </a:t>
            </a:r>
            <a:r>
              <a:rPr lang="en-US" sz="1200" err="1">
                <a:latin typeface="Aptos Display"/>
                <a:cs typeface="Times New Roman"/>
              </a:rPr>
              <a:t>departure_airport</a:t>
            </a:r>
            <a:r>
              <a:rPr lang="en-US" sz="1200" dirty="0">
                <a:latin typeface="Aptos Display"/>
                <a:cs typeface="Times New Roman"/>
              </a:rPr>
              <a:t> and </a:t>
            </a:r>
            <a:r>
              <a:rPr lang="en-US" sz="1200" err="1">
                <a:latin typeface="Aptos Display"/>
                <a:cs typeface="Times New Roman"/>
              </a:rPr>
              <a:t>arrival_airport</a:t>
            </a:r>
            <a:r>
              <a:rPr lang="en-US" sz="1200" dirty="0">
                <a:latin typeface="Aptos Display"/>
                <a:cs typeface="Times New Roman"/>
              </a:rPr>
              <a:t>.</a:t>
            </a:r>
            <a:endParaRPr lang="en-US" sz="1400" dirty="0"/>
          </a:p>
        </p:txBody>
      </p:sp>
      <p:pic>
        <p:nvPicPr>
          <p:cNvPr id="4" name="Content Placeholder 3" descr="A screenshot of a computer&#10;&#10;AI-generated content may be incorrect.">
            <a:extLst>
              <a:ext uri="{FF2B5EF4-FFF2-40B4-BE49-F238E27FC236}">
                <a16:creationId xmlns:a16="http://schemas.microsoft.com/office/drawing/2014/main" id="{B67B27DC-4F74-C6E3-6148-70409BB4F00F}"/>
              </a:ext>
            </a:extLst>
          </p:cNvPr>
          <p:cNvPicPr>
            <a:picLocks noGrp="1" noChangeAspect="1"/>
          </p:cNvPicPr>
          <p:nvPr>
            <p:ph idx="1"/>
          </p:nvPr>
        </p:nvPicPr>
        <p:blipFill>
          <a:blip r:embed="rId2"/>
          <a:stretch>
            <a:fillRect/>
          </a:stretch>
        </p:blipFill>
        <p:spPr>
          <a:xfrm>
            <a:off x="495542" y="278534"/>
            <a:ext cx="11196298" cy="6295592"/>
          </a:xfrm>
          <a:prstGeom prst="rect">
            <a:avLst/>
          </a:prstGeom>
        </p:spPr>
      </p:pic>
    </p:spTree>
    <p:extLst>
      <p:ext uri="{BB962C8B-B14F-4D97-AF65-F5344CB8AC3E}">
        <p14:creationId xmlns:p14="http://schemas.microsoft.com/office/powerpoint/2010/main" val="3442534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BBE7D-4A85-E443-EEEC-083976A1BB7B}"/>
              </a:ext>
            </a:extLst>
          </p:cNvPr>
          <p:cNvSpPr>
            <a:spLocks noGrp="1"/>
          </p:cNvSpPr>
          <p:nvPr>
            <p:ph type="title"/>
          </p:nvPr>
        </p:nvSpPr>
        <p:spPr>
          <a:xfrm>
            <a:off x="838200" y="289"/>
            <a:ext cx="10515600" cy="586654"/>
          </a:xfrm>
        </p:spPr>
        <p:txBody>
          <a:bodyPr vert="horz" lIns="91440" tIns="45720" rIns="91440" bIns="45720" rtlCol="0" anchor="ctr">
            <a:noAutofit/>
          </a:bodyPr>
          <a:lstStyle/>
          <a:p>
            <a:r>
              <a:rPr lang="en-US" sz="1000" dirty="0">
                <a:latin typeface="Times New Roman"/>
                <a:cs typeface="Times New Roman"/>
              </a:rPr>
              <a:t>6.1 Create a unique index for the </a:t>
            </a:r>
            <a:r>
              <a:rPr lang="en-US" sz="1000" dirty="0" err="1">
                <a:latin typeface="Times New Roman"/>
                <a:cs typeface="Times New Roman"/>
              </a:rPr>
              <a:t>passport_number</a:t>
            </a:r>
            <a:r>
              <a:rPr lang="en-US" sz="1000" dirty="0">
                <a:latin typeface="Times New Roman"/>
                <a:cs typeface="Times New Roman"/>
              </a:rPr>
              <a:t> of the Passengers table. Check if the index was created or not. Insert into the table two new passengers.</a:t>
            </a:r>
            <a:endParaRPr lang="en-US" sz="1000" dirty="0"/>
          </a:p>
          <a:p>
            <a:r>
              <a:rPr lang="en-US" sz="1000" dirty="0">
                <a:latin typeface="Times New Roman"/>
                <a:cs typeface="Times New Roman"/>
              </a:rPr>
              <a:t>Explain in your own words what is going on in the output?</a:t>
            </a:r>
            <a:endParaRPr lang="en-US" sz="1000" dirty="0"/>
          </a:p>
          <a:p>
            <a:endParaRPr lang="en-US" sz="1000" dirty="0"/>
          </a:p>
        </p:txBody>
      </p:sp>
      <p:pic>
        <p:nvPicPr>
          <p:cNvPr id="4" name="Content Placeholder 3" descr="A screenshot of a computer&#10;&#10;AI-generated content may be incorrect.">
            <a:extLst>
              <a:ext uri="{FF2B5EF4-FFF2-40B4-BE49-F238E27FC236}">
                <a16:creationId xmlns:a16="http://schemas.microsoft.com/office/drawing/2014/main" id="{7ECBFD11-00E6-9C81-C6F4-907F8BD4D3D8}"/>
              </a:ext>
            </a:extLst>
          </p:cNvPr>
          <p:cNvPicPr>
            <a:picLocks noGrp="1" noChangeAspect="1"/>
          </p:cNvPicPr>
          <p:nvPr>
            <p:ph idx="1"/>
          </p:nvPr>
        </p:nvPicPr>
        <p:blipFill>
          <a:blip r:embed="rId2"/>
          <a:stretch>
            <a:fillRect/>
          </a:stretch>
        </p:blipFill>
        <p:spPr>
          <a:xfrm>
            <a:off x="524035" y="592571"/>
            <a:ext cx="11139311" cy="6263264"/>
          </a:xfrm>
          <a:prstGeom prst="rect">
            <a:avLst/>
          </a:prstGeom>
        </p:spPr>
      </p:pic>
    </p:spTree>
    <p:extLst>
      <p:ext uri="{BB962C8B-B14F-4D97-AF65-F5344CB8AC3E}">
        <p14:creationId xmlns:p14="http://schemas.microsoft.com/office/powerpoint/2010/main" val="3249096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BE099-709F-3A6C-CF8F-F7BB2C5AB1CA}"/>
              </a:ext>
            </a:extLst>
          </p:cNvPr>
          <p:cNvSpPr>
            <a:spLocks noGrp="1"/>
          </p:cNvSpPr>
          <p:nvPr>
            <p:ph type="title"/>
          </p:nvPr>
        </p:nvSpPr>
        <p:spPr>
          <a:xfrm>
            <a:off x="838200" y="245052"/>
            <a:ext cx="10515600" cy="184873"/>
          </a:xfrm>
        </p:spPr>
        <p:txBody>
          <a:bodyPr vert="horz" lIns="91440" tIns="45720" rIns="91440" bIns="45720" rtlCol="0" anchor="ctr">
            <a:noAutofit/>
          </a:bodyPr>
          <a:lstStyle/>
          <a:p>
            <a:r>
              <a:rPr lang="en-US" sz="1100" dirty="0">
                <a:latin typeface="Aptos Display"/>
                <a:cs typeface="Times New Roman"/>
              </a:rPr>
              <a:t>6.2 Create a unique index for the </a:t>
            </a:r>
            <a:r>
              <a:rPr lang="en-US" sz="1100" dirty="0" err="1">
                <a:latin typeface="Aptos Display"/>
                <a:cs typeface="Times New Roman"/>
              </a:rPr>
              <a:t>passport_number</a:t>
            </a:r>
            <a:r>
              <a:rPr lang="en-US" sz="1100" dirty="0">
                <a:latin typeface="Aptos Display"/>
                <a:cs typeface="Times New Roman"/>
              </a:rPr>
              <a:t> of the Passengers table. Check if the index was created or not. Insert into the table two new passengers.</a:t>
            </a:r>
          </a:p>
          <a:p>
            <a:r>
              <a:rPr lang="en-US" sz="1100" dirty="0">
                <a:latin typeface="Aptos Display"/>
                <a:cs typeface="Times New Roman"/>
              </a:rPr>
              <a:t>Explain in your own words what is going on in the output?</a:t>
            </a:r>
          </a:p>
          <a:p>
            <a:endParaRPr lang="en-US" sz="1100" dirty="0"/>
          </a:p>
          <a:p>
            <a:endParaRPr lang="en-US" sz="1100" dirty="0"/>
          </a:p>
        </p:txBody>
      </p:sp>
      <p:pic>
        <p:nvPicPr>
          <p:cNvPr id="4" name="Content Placeholder 3" descr="A screenshot of a computer&#10;&#10;AI-generated content may be incorrect.">
            <a:extLst>
              <a:ext uri="{FF2B5EF4-FFF2-40B4-BE49-F238E27FC236}">
                <a16:creationId xmlns:a16="http://schemas.microsoft.com/office/drawing/2014/main" id="{0648B177-7F0E-5278-1B25-569FC150B58D}"/>
              </a:ext>
            </a:extLst>
          </p:cNvPr>
          <p:cNvPicPr>
            <a:picLocks noGrp="1" noChangeAspect="1"/>
          </p:cNvPicPr>
          <p:nvPr>
            <p:ph idx="1"/>
          </p:nvPr>
        </p:nvPicPr>
        <p:blipFill>
          <a:blip r:embed="rId2"/>
          <a:stretch>
            <a:fillRect/>
          </a:stretch>
        </p:blipFill>
        <p:spPr>
          <a:xfrm>
            <a:off x="727235" y="546388"/>
            <a:ext cx="10737530" cy="6041592"/>
          </a:xfrm>
          <a:prstGeom prst="rect">
            <a:avLst/>
          </a:prstGeom>
        </p:spPr>
      </p:pic>
    </p:spTree>
    <p:extLst>
      <p:ext uri="{BB962C8B-B14F-4D97-AF65-F5344CB8AC3E}">
        <p14:creationId xmlns:p14="http://schemas.microsoft.com/office/powerpoint/2010/main" val="542541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3C003-DC5B-FD88-DFAB-8CAA0812B9B9}"/>
              </a:ext>
            </a:extLst>
          </p:cNvPr>
          <p:cNvSpPr>
            <a:spLocks noGrp="1"/>
          </p:cNvSpPr>
          <p:nvPr>
            <p:ph type="title"/>
          </p:nvPr>
        </p:nvSpPr>
        <p:spPr>
          <a:xfrm>
            <a:off x="838200" y="508289"/>
            <a:ext cx="10515600" cy="161782"/>
          </a:xfrm>
        </p:spPr>
        <p:txBody>
          <a:bodyPr>
            <a:normAutofit fontScale="90000"/>
          </a:bodyPr>
          <a:lstStyle/>
          <a:p>
            <a:r>
              <a:rPr lang="en-US" sz="1100" dirty="0"/>
              <a:t>6.3 Create a unique index for the </a:t>
            </a:r>
            <a:r>
              <a:rPr lang="en-US" sz="1100" dirty="0" err="1"/>
              <a:t>passport_number</a:t>
            </a:r>
            <a:r>
              <a:rPr lang="en-US" sz="1100" dirty="0"/>
              <a:t> of the Passengers table. Check if the index was created or not. Insert into the table two new passengers.</a:t>
            </a:r>
          </a:p>
          <a:p>
            <a:r>
              <a:rPr lang="en-US" sz="1100"/>
              <a:t>Explain in your own words what is going on in the output?</a:t>
            </a:r>
          </a:p>
          <a:p>
            <a:endParaRPr lang="en-US" sz="1100" dirty="0"/>
          </a:p>
          <a:p>
            <a:endParaRPr lang="en-US" sz="1100" dirty="0"/>
          </a:p>
          <a:p>
            <a:endParaRPr lang="en-US" dirty="0"/>
          </a:p>
        </p:txBody>
      </p:sp>
      <p:sp>
        <p:nvSpPr>
          <p:cNvPr id="3" name="Content Placeholder 2">
            <a:extLst>
              <a:ext uri="{FF2B5EF4-FFF2-40B4-BE49-F238E27FC236}">
                <a16:creationId xmlns:a16="http://schemas.microsoft.com/office/drawing/2014/main" id="{1DA86969-A7B8-25E5-824A-E1D63EE36AC6}"/>
              </a:ext>
            </a:extLst>
          </p:cNvPr>
          <p:cNvSpPr>
            <a:spLocks noGrp="1"/>
          </p:cNvSpPr>
          <p:nvPr>
            <p:ph idx="1"/>
          </p:nvPr>
        </p:nvSpPr>
        <p:spPr/>
        <p:txBody>
          <a:bodyPr vert="horz" lIns="91440" tIns="45720" rIns="91440" bIns="45720" rtlCol="0" anchor="t">
            <a:normAutofit/>
          </a:bodyPr>
          <a:lstStyle/>
          <a:p>
            <a:pPr marL="0" indent="0">
              <a:buNone/>
            </a:pPr>
            <a:r>
              <a:rPr lang="en-US" dirty="0">
                <a:ea typeface="+mn-lt"/>
                <a:cs typeface="+mn-lt"/>
              </a:rPr>
              <a:t>The unique index enforces a uniqueness constraint at the database level.   When the first record is inserted, the index registers the passport number.   When the second insert tries to reuse the same number, PostgreSQL checks the index, detects a duplicate key, and rejects the operation to preserve data integrity.</a:t>
            </a:r>
            <a:endParaRPr lang="en-US" dirty="0"/>
          </a:p>
        </p:txBody>
      </p:sp>
    </p:spTree>
    <p:extLst>
      <p:ext uri="{BB962C8B-B14F-4D97-AF65-F5344CB8AC3E}">
        <p14:creationId xmlns:p14="http://schemas.microsoft.com/office/powerpoint/2010/main" val="2781285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BB407-B48F-1241-4809-233CC3E67171}"/>
              </a:ext>
            </a:extLst>
          </p:cNvPr>
          <p:cNvSpPr>
            <a:spLocks noGrp="1"/>
          </p:cNvSpPr>
          <p:nvPr>
            <p:ph type="title"/>
          </p:nvPr>
        </p:nvSpPr>
        <p:spPr>
          <a:xfrm>
            <a:off x="838200" y="101888"/>
            <a:ext cx="10515600" cy="443490"/>
          </a:xfrm>
        </p:spPr>
        <p:txBody>
          <a:bodyPr>
            <a:noAutofit/>
          </a:bodyPr>
          <a:lstStyle/>
          <a:p>
            <a:r>
              <a:rPr lang="en-US" sz="1200" dirty="0">
                <a:latin typeface="Calibri"/>
                <a:ea typeface="Calibri"/>
                <a:cs typeface="Times New Roman"/>
              </a:rPr>
              <a:t>7.1 Create an index for the Passengers table. Use for that first name, last name, date of birth and country of citizenship. </a:t>
            </a:r>
          </a:p>
        </p:txBody>
      </p:sp>
      <p:pic>
        <p:nvPicPr>
          <p:cNvPr id="4" name="Content Placeholder 3" descr="A screenshot of a computer&#10;&#10;AI-generated content may be incorrect.">
            <a:extLst>
              <a:ext uri="{FF2B5EF4-FFF2-40B4-BE49-F238E27FC236}">
                <a16:creationId xmlns:a16="http://schemas.microsoft.com/office/drawing/2014/main" id="{55D15D9F-8664-4EEA-4E37-F8F9AAE47146}"/>
              </a:ext>
            </a:extLst>
          </p:cNvPr>
          <p:cNvPicPr>
            <a:picLocks noGrp="1" noChangeAspect="1"/>
          </p:cNvPicPr>
          <p:nvPr>
            <p:ph idx="1"/>
          </p:nvPr>
        </p:nvPicPr>
        <p:blipFill>
          <a:blip r:embed="rId2"/>
          <a:stretch>
            <a:fillRect/>
          </a:stretch>
        </p:blipFill>
        <p:spPr>
          <a:xfrm>
            <a:off x="685671" y="629516"/>
            <a:ext cx="10820657" cy="6092392"/>
          </a:xfrm>
          <a:prstGeom prst="rect">
            <a:avLst/>
          </a:prstGeom>
        </p:spPr>
      </p:pic>
    </p:spTree>
    <p:extLst>
      <p:ext uri="{BB962C8B-B14F-4D97-AF65-F5344CB8AC3E}">
        <p14:creationId xmlns:p14="http://schemas.microsoft.com/office/powerpoint/2010/main" val="2799935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screenshot of a computer&#10;&#10;AI-generated content may be incorrect.">
            <a:extLst>
              <a:ext uri="{FF2B5EF4-FFF2-40B4-BE49-F238E27FC236}">
                <a16:creationId xmlns:a16="http://schemas.microsoft.com/office/drawing/2014/main" id="{38D86819-8A05-48A9-567A-5DA0D1AAD98B}"/>
              </a:ext>
            </a:extLst>
          </p:cNvPr>
          <p:cNvPicPr>
            <a:picLocks noGrp="1" noChangeAspect="1"/>
          </p:cNvPicPr>
          <p:nvPr>
            <p:ph idx="1"/>
          </p:nvPr>
        </p:nvPicPr>
        <p:blipFill>
          <a:blip r:embed="rId2"/>
          <a:stretch>
            <a:fillRect/>
          </a:stretch>
        </p:blipFill>
        <p:spPr>
          <a:xfrm>
            <a:off x="597926" y="578716"/>
            <a:ext cx="10991530" cy="6184756"/>
          </a:xfrm>
          <a:prstGeom prst="rect">
            <a:avLst/>
          </a:prstGeom>
        </p:spPr>
      </p:pic>
      <p:sp>
        <p:nvSpPr>
          <p:cNvPr id="7" name="TextBox 6">
            <a:extLst>
              <a:ext uri="{FF2B5EF4-FFF2-40B4-BE49-F238E27FC236}">
                <a16:creationId xmlns:a16="http://schemas.microsoft.com/office/drawing/2014/main" id="{9F30D4F5-7C23-EA87-F508-FE2E40C3DD39}"/>
              </a:ext>
            </a:extLst>
          </p:cNvPr>
          <p:cNvSpPr txBox="1"/>
          <p:nvPr/>
        </p:nvSpPr>
        <p:spPr>
          <a:xfrm>
            <a:off x="839755" y="46653"/>
            <a:ext cx="10512489"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aseline="0" dirty="0">
                <a:latin typeface="Calibri"/>
              </a:rPr>
              <a:t>Then, write a SQL query to find a passenger who was born in Philippines and was born in 1984 and check if the query uses indexes or not.</a:t>
            </a:r>
            <a:endParaRPr lang="en-US" sz="1200" dirty="0">
              <a:latin typeface="Calibri"/>
              <a:ea typeface="Calibri"/>
              <a:cs typeface="Calibri"/>
            </a:endParaRPr>
          </a:p>
        </p:txBody>
      </p:sp>
    </p:spTree>
    <p:extLst>
      <p:ext uri="{BB962C8B-B14F-4D97-AF65-F5344CB8AC3E}">
        <p14:creationId xmlns:p14="http://schemas.microsoft.com/office/powerpoint/2010/main" val="34111504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E4D3F-E0A0-61F9-A7B0-E607D2F2C06E}"/>
              </a:ext>
            </a:extLst>
          </p:cNvPr>
          <p:cNvSpPr>
            <a:spLocks noGrp="1"/>
          </p:cNvSpPr>
          <p:nvPr>
            <p:ph type="title"/>
          </p:nvPr>
        </p:nvSpPr>
        <p:spPr>
          <a:xfrm>
            <a:off x="838200" y="92982"/>
            <a:ext cx="10515600" cy="1545160"/>
          </a:xfrm>
        </p:spPr>
        <p:txBody>
          <a:bodyPr>
            <a:normAutofit/>
          </a:bodyPr>
          <a:lstStyle/>
          <a:p>
            <a:r>
              <a:rPr lang="en-US" sz="1200" dirty="0">
                <a:latin typeface="Calibri"/>
                <a:ea typeface="Calibri"/>
                <a:cs typeface="Calibri"/>
              </a:rPr>
              <a:t>7.3 Give the explanation to the output</a:t>
            </a:r>
          </a:p>
        </p:txBody>
      </p:sp>
      <p:sp>
        <p:nvSpPr>
          <p:cNvPr id="3" name="Content Placeholder 2">
            <a:extLst>
              <a:ext uri="{FF2B5EF4-FFF2-40B4-BE49-F238E27FC236}">
                <a16:creationId xmlns:a16="http://schemas.microsoft.com/office/drawing/2014/main" id="{E0BDA5FC-4EB5-8559-82BA-051B7045D55F}"/>
              </a:ext>
            </a:extLst>
          </p:cNvPr>
          <p:cNvSpPr>
            <a:spLocks noGrp="1"/>
          </p:cNvSpPr>
          <p:nvPr>
            <p:ph idx="1"/>
          </p:nvPr>
        </p:nvSpPr>
        <p:spPr/>
        <p:txBody>
          <a:bodyPr vert="horz" lIns="91440" tIns="45720" rIns="91440" bIns="45720" rtlCol="0" anchor="t">
            <a:normAutofit/>
          </a:bodyPr>
          <a:lstStyle/>
          <a:p>
            <a:r>
              <a:rPr lang="en-US" dirty="0"/>
              <a:t>PostgreSQL scanned all rows instead of using the index.</a:t>
            </a:r>
          </a:p>
          <a:p>
            <a:r>
              <a:rPr lang="en-US" dirty="0"/>
              <a:t>Likely, it is because table is relatively small, only having 200 elements. Really don't know other reasons. </a:t>
            </a:r>
          </a:p>
        </p:txBody>
      </p:sp>
    </p:spTree>
    <p:extLst>
      <p:ext uri="{BB962C8B-B14F-4D97-AF65-F5344CB8AC3E}">
        <p14:creationId xmlns:p14="http://schemas.microsoft.com/office/powerpoint/2010/main" val="1173619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BAEA4-AF48-A2B0-9BBD-73E79DCFFBCD}"/>
              </a:ext>
            </a:extLst>
          </p:cNvPr>
          <p:cNvSpPr>
            <a:spLocks noGrp="1"/>
          </p:cNvSpPr>
          <p:nvPr>
            <p:ph type="title"/>
          </p:nvPr>
        </p:nvSpPr>
        <p:spPr>
          <a:xfrm>
            <a:off x="838200" y="46470"/>
            <a:ext cx="10515600" cy="129454"/>
          </a:xfrm>
        </p:spPr>
        <p:txBody>
          <a:bodyPr>
            <a:normAutofit fontScale="90000"/>
          </a:bodyPr>
          <a:lstStyle/>
          <a:p>
            <a:r>
              <a:rPr lang="en-US" sz="1200" dirty="0">
                <a:latin typeface="Calibri"/>
                <a:ea typeface="Calibri"/>
                <a:cs typeface="Times New Roman"/>
              </a:rPr>
              <a:t>8. Write a SQL query to list indexes for table Passengers. After delete the created indexes.</a:t>
            </a:r>
            <a:endParaRPr lang="en-US" sz="1200">
              <a:latin typeface="Calibri"/>
              <a:ea typeface="Calibri"/>
              <a:cs typeface="Calibri"/>
            </a:endParaRPr>
          </a:p>
        </p:txBody>
      </p:sp>
      <p:pic>
        <p:nvPicPr>
          <p:cNvPr id="4" name="Content Placeholder 3" descr="A screenshot of a computer&#10;&#10;AI-generated content may be incorrect.">
            <a:extLst>
              <a:ext uri="{FF2B5EF4-FFF2-40B4-BE49-F238E27FC236}">
                <a16:creationId xmlns:a16="http://schemas.microsoft.com/office/drawing/2014/main" id="{E9F46B99-8A36-F664-565A-C31FC815273A}"/>
              </a:ext>
            </a:extLst>
          </p:cNvPr>
          <p:cNvPicPr>
            <a:picLocks noGrp="1" noChangeAspect="1"/>
          </p:cNvPicPr>
          <p:nvPr>
            <p:ph idx="1"/>
          </p:nvPr>
        </p:nvPicPr>
        <p:blipFill>
          <a:blip r:embed="rId2"/>
          <a:stretch>
            <a:fillRect/>
          </a:stretch>
        </p:blipFill>
        <p:spPr>
          <a:xfrm>
            <a:off x="667199" y="546388"/>
            <a:ext cx="10852984" cy="6087774"/>
          </a:xfrm>
          <a:prstGeom prst="rect">
            <a:avLst/>
          </a:prstGeom>
        </p:spPr>
      </p:pic>
    </p:spTree>
    <p:extLst>
      <p:ext uri="{BB962C8B-B14F-4D97-AF65-F5344CB8AC3E}">
        <p14:creationId xmlns:p14="http://schemas.microsoft.com/office/powerpoint/2010/main" val="18894745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Yeskenov Aldiyar</vt:lpstr>
      <vt:lpstr>1. Create an index on the actual_departure column in the flights table.</vt:lpstr>
      <vt:lpstr>2. Create a unique index to ensure flight_no and scheduled_departure combinations are unique.</vt:lpstr>
      <vt:lpstr>3. Create a composite index on the departure_airport_id and arrival_airport_id columns.</vt:lpstr>
      <vt:lpstr>4. Evaluate the difference in query performance with and without indexes. Measure performance differences.</vt:lpstr>
      <vt:lpstr>5. Use EXPLAIN ANALYZE to check index usage in a query filtering by departure_airport and arrival_airport.</vt:lpstr>
      <vt:lpstr>6.1 Create a unique index for the passport_number of the Passengers table. Check if the index was created or not. Insert into the table two new passengers. Explain in your own words what is going on in the output? </vt:lpstr>
      <vt:lpstr>6.2 Create a unique index for the passport_number of the Passengers table. Check if the index was created or not. Insert into the table two new passengers. Explain in your own words what is going on in the output?  </vt:lpstr>
      <vt:lpstr>6.3 Create a unique index for the passport_number of the Passengers table. Check if the index was created or not. Insert into the table two new passengers. Explain in your own words what is going on in the output?   </vt:lpstr>
      <vt:lpstr>7.1 Create an index for the Passengers table. Use for that first name, last name, date of birth and country of citizenship. </vt:lpstr>
      <vt:lpstr>PowerPoint Presentation</vt:lpstr>
      <vt:lpstr>7.3 Give the explanation to the output</vt:lpstr>
      <vt:lpstr>8. Write a SQL query to list indexes for table Passengers. After delete the created indexes.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123</cp:revision>
  <dcterms:created xsi:type="dcterms:W3CDTF">2025-11-11T00:40:56Z</dcterms:created>
  <dcterms:modified xsi:type="dcterms:W3CDTF">2025-11-11T01:23:40Z</dcterms:modified>
</cp:coreProperties>
</file>